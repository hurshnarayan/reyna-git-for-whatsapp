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/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60704" y="237744"/>
            <a:ext cx="6400800" cy="219456"/>
          </a:xfrm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 sz="750" spc="110">
                <a:solidFill>
                  <a:srgbClr val="9A9A93"/>
                </a:solidFill>
                <a:latin typeface="Inter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60704" y="457200"/>
            <a:ext cx="6400800" cy="310896"/>
          </a:xfrm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b="1" dirty="0" spc="110">
                <a:solidFill>
                  <a:srgbClr val="73736D"/>
                </a:solidFill>
                <a:latin typeface="Inter" panose="02020404030301010803" pitchFamily="18" charset="0"/>
              </a:rPr>
              <a:t>SMART INDIA HACKATHON </a:t>
            </a:r>
            <a:r>
              <a:rPr lang="en-US" sz="1200" b="1" dirty="0" smtClean="0" spc="110">
                <a:solidFill>
                  <a:srgbClr val="73736D"/>
                </a:solidFill>
                <a:latin typeface="Inter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39" name="Picture 38" descr="logo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"/>
            <a:ext cx="384048" cy="3840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2920" y="1170432"/>
            <a:ext cx="658368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80"/>
              </a:spcAft>
            </a:pPr>
            <a:r>
              <a:rPr sz="4500" b="1">
                <a:solidFill>
                  <a:srgbClr val="16324F"/>
                </a:solidFill>
                <a:latin typeface="Aptos"/>
              </a:rPr>
              <a:t>Retina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2048256"/>
            <a:ext cx="6583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2"/>
              </a:spcAft>
            </a:pPr>
            <a:r>
              <a:rPr sz="1800" b="0">
                <a:solidFill>
                  <a:srgbClr val="576570"/>
                </a:solidFill>
                <a:latin typeface="Aptos"/>
              </a:rPr>
              <a:t>Your WhatsApp media, searchable and conversational.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615184"/>
            <a:ext cx="6035040" cy="9525"/>
          </a:xfrm>
          <a:prstGeom prst="rect">
            <a:avLst/>
          </a:prstGeom>
          <a:solidFill>
            <a:srgbClr val="E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8712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60">
                <a:solidFill>
                  <a:srgbClr val="9A9A93"/>
                </a:solidFill>
                <a:latin typeface="Inter"/>
              </a:rPr>
              <a:t>Problem Statement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7792" y="2830068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8"/>
                </a:solidFill>
                <a:latin typeface="Inter"/>
              </a:rPr>
              <a:t>SIH260150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3284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60">
                <a:solidFill>
                  <a:srgbClr val="9A9A93"/>
                </a:solidFill>
                <a:latin typeface="Inter"/>
              </a:rPr>
              <a:t>Problem Statement 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07792" y="328726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8"/>
                </a:solidFill>
                <a:latin typeface="Inter"/>
              </a:rPr>
              <a:t>Online integrated platform for projects taken up by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8"/>
                </a:solidFill>
                <a:latin typeface="Inter"/>
              </a:rPr>
              <a:t>the students of various universities and colleges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398678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60">
                <a:solidFill>
                  <a:srgbClr val="9A9A93"/>
                </a:solidFill>
                <a:latin typeface="Inter"/>
              </a:rPr>
              <a:t>Theme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07792" y="3945636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8"/>
                </a:solidFill>
                <a:latin typeface="Inter"/>
              </a:rPr>
              <a:t>Smart Education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44398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60">
                <a:solidFill>
                  <a:srgbClr val="9A9A93"/>
                </a:solidFill>
                <a:latin typeface="Inter"/>
              </a:rPr>
              <a:t>PS Category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7792" y="4402836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8"/>
                </a:solidFill>
                <a:latin typeface="Inter"/>
              </a:rPr>
              <a:t>Software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90118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60">
                <a:solidFill>
                  <a:srgbClr val="9A9A93"/>
                </a:solidFill>
                <a:latin typeface="Inter"/>
              </a:rPr>
              <a:t>Team 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07792" y="4860036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8"/>
                </a:solidFill>
                <a:latin typeface="Inter"/>
              </a:rPr>
              <a:t>Fill in from the SIH portal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5838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60">
                <a:solidFill>
                  <a:srgbClr val="9A9A93"/>
                </a:solidFill>
                <a:latin typeface="Inter"/>
              </a:rPr>
              <a:t>Team Name (Registered on portal)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07792" y="5317236"/>
            <a:ext cx="3749039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"/>
              </a:spcAft>
            </a:pPr>
            <a:r>
              <a:rPr sz="1500" b="1">
                <a:solidFill>
                  <a:srgbClr val="1C232B"/>
                </a:solidFill>
                <a:latin typeface="Aptos"/>
              </a:rPr>
              <a:t>Reyna</a:t>
            </a:r>
          </a:p>
        </p:txBody>
      </p:sp>
      <p:pic>
        <p:nvPicPr>
          <p:cNvPr id="55" name="Picture 54" descr="sih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481328"/>
            <a:ext cx="3749039" cy="1769859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7699248" y="3602736"/>
            <a:ext cx="3986784" cy="9525"/>
          </a:xfrm>
          <a:prstGeom prst="rect">
            <a:avLst/>
          </a:prstGeom>
          <a:solidFill>
            <a:srgbClr val="E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99248" y="3822191"/>
            <a:ext cx="3986784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TEAM REYNA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99248" y="4169663"/>
            <a:ext cx="3986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8"/>
                </a:solidFill>
                <a:latin typeface="Inter"/>
              </a:rPr>
              <a:t>Yash Vardhan Dixit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9248" y="4466844"/>
            <a:ext cx="3986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8"/>
                </a:solidFill>
                <a:latin typeface="Inter"/>
              </a:rPr>
              <a:t>Harsh Narayan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99248" y="4764024"/>
            <a:ext cx="3986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8"/>
                </a:solidFill>
                <a:latin typeface="Inter"/>
              </a:rPr>
              <a:t>Aditya Rai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9248" y="5061204"/>
            <a:ext cx="3986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8"/>
                </a:solidFill>
                <a:latin typeface="Inter"/>
              </a:rPr>
              <a:t>Chinmayi M.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9248" y="5358384"/>
            <a:ext cx="3986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8"/>
                </a:solidFill>
                <a:latin typeface="Inter"/>
              </a:rPr>
              <a:t>Gopi Thankur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9248" y="5655564"/>
            <a:ext cx="3986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8"/>
                </a:solidFill>
                <a:latin typeface="Inter"/>
              </a:rPr>
              <a:t>Prasanjeet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536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116"/>
          </a:xfrm>
          <a:prstGeom prst="rect">
            <a:avLst/>
          </a:prstGeom>
        </p:spPr>
      </p:pic>
      <p:pic>
        <p:nvPicPr>
          <p:cNvPr id="15364" name="Picture 15363" descr="logo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"/>
            <a:ext cx="384048" cy="384048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1060704" y="256032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2"/>
              </a:spcAft>
            </a:pPr>
            <a:r>
              <a:rPr sz="2300" b="1">
                <a:solidFill>
                  <a:srgbClr val="16324F"/>
                </a:solidFill>
                <a:latin typeface="Aptos"/>
              </a:rPr>
              <a:t>RETINA · THE SECOND BRAIN FOR WHATSAPP MEDIA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1060704" y="731520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Core concept  ·  background ingestion  ·  sender-aware context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02920" y="1225296"/>
            <a:ext cx="11183111" cy="9525"/>
          </a:xfrm>
          <a:prstGeom prst="rect">
            <a:avLst/>
          </a:prstGeom>
          <a:solidFill>
            <a:srgbClr val="E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502920" y="1335024"/>
            <a:ext cx="111556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8"/>
              </a:spcAft>
            </a:pPr>
            <a:r>
              <a:rPr sz="1700" b="1">
                <a:solidFill>
                  <a:srgbClr val="16324F"/>
                </a:solidFill>
                <a:latin typeface="Aptos"/>
              </a:rPr>
              <a:t>Incoming images and PDFs become searchable knowledge—without a manual upload step.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02920" y="1847088"/>
            <a:ext cx="3429000" cy="4142231"/>
          </a:xfrm>
          <a:prstGeom prst="roundRect">
            <a:avLst>
              <a:gd name="adj" fmla="val 2933"/>
            </a:avLst>
          </a:prstGeom>
          <a:solidFill>
            <a:srgbClr val="EFF3FF"/>
          </a:solidFill>
          <a:ln w="12700">
            <a:solidFill>
              <a:srgbClr val="C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TextBox 15369"/>
          <p:cNvSpPr txBox="1"/>
          <p:nvPr/>
        </p:nvSpPr>
        <p:spPr>
          <a:xfrm>
            <a:off x="740664" y="2066543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3D5AFE"/>
                </a:solidFill>
                <a:latin typeface="Aptos"/>
              </a:rPr>
              <a:t>BACKGROUND LISTENER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740664" y="2377440"/>
            <a:ext cx="2971800" cy="34107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8"/>
              </a:spcAft>
            </a:pPr>
            <a:r>
              <a:rPr sz="1400" b="0">
                <a:solidFill>
                  <a:srgbClr val="1C232B"/>
                </a:solidFill>
                <a:latin typeface="Aptos"/>
              </a:rPr>
              <a:t>• WhatsAppListenerService.kt runs as an Android NotificationListenerService.</a:t>
            </a:r>
          </a:p>
          <a:p>
            <a:pPr algn="l">
              <a:lnSpc>
                <a:spcPct val="112000"/>
              </a:lnSpc>
              <a:spcAft>
                <a:spcPts val="168"/>
              </a:spcAft>
            </a:pPr>
            <a:r>
              <a:rPr sz="1400" b="0">
                <a:solidFill>
                  <a:srgbClr val="1C232B"/>
                </a:solidFill>
                <a:latin typeface="Aptos"/>
              </a:rPr>
              <a:t>• It monitors incoming WhatsApp notifications in the background.</a:t>
            </a:r>
          </a:p>
          <a:p>
            <a:pPr algn="l">
              <a:lnSpc>
                <a:spcPct val="112000"/>
              </a:lnSpc>
              <a:spcAft>
                <a:spcPts val="168"/>
              </a:spcAft>
            </a:pPr>
            <a:r>
              <a:rPr sz="1400" b="0">
                <a:solidFill>
                  <a:srgbClr val="1C232B"/>
                </a:solidFill>
                <a:latin typeface="Aptos"/>
              </a:rPr>
              <a:t>• It targets notifications that carry a Photo or Document attachment.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096512" y="1847088"/>
            <a:ext cx="3429000" cy="4142231"/>
          </a:xfrm>
          <a:prstGeom prst="roundRect">
            <a:avLst>
              <a:gd name="adj" fmla="val 2933"/>
            </a:avLst>
          </a:prstGeom>
          <a:solidFill>
            <a:srgbClr val="EBF8F2"/>
          </a:solidFill>
          <a:ln w="12700">
            <a:solidFill>
              <a:srgbClr val="C4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TextBox 15372"/>
          <p:cNvSpPr txBox="1"/>
          <p:nvPr/>
        </p:nvSpPr>
        <p:spPr>
          <a:xfrm>
            <a:off x="4334256" y="2066543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009B66"/>
                </a:solidFill>
                <a:latin typeface="Aptos"/>
              </a:rPr>
              <a:t>SMART SENDER PARSING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334256" y="2377440"/>
            <a:ext cx="2971800" cy="34107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8"/>
              </a:spcAft>
            </a:pPr>
            <a:r>
              <a:rPr sz="1400" b="0">
                <a:solidFill>
                  <a:srgbClr val="1C232B"/>
                </a:solidFill>
                <a:latin typeface="Aptos"/>
              </a:rPr>
              <a:t>• Direct chats: captures the sender.</a:t>
            </a:r>
          </a:p>
          <a:p>
            <a:pPr algn="l">
              <a:lnSpc>
                <a:spcPct val="112000"/>
              </a:lnSpc>
              <a:spcAft>
                <a:spcPts val="168"/>
              </a:spcAft>
            </a:pPr>
            <a:r>
              <a:rPr sz="1400" b="0">
                <a:solidFill>
                  <a:srgbClr val="1C232B"/>
                </a:solidFill>
                <a:latin typeface="Aptos"/>
              </a:rPr>
              <a:t>• Group chats: captures both the group and the individual sender.</a:t>
            </a:r>
          </a:p>
          <a:p>
            <a:pPr algn="l">
              <a:lnSpc>
                <a:spcPct val="112000"/>
              </a:lnSpc>
              <a:spcAft>
                <a:spcPts val="168"/>
              </a:spcAft>
            </a:pPr>
            <a:r>
              <a:rPr sz="1400" b="0">
                <a:solidFill>
                  <a:srgbClr val="1C232B"/>
                </a:solidFill>
                <a:latin typeface="Aptos"/>
              </a:rPr>
              <a:t>• Example: “Nidhi in SIH'26 : Selected teams”.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7690104" y="1847088"/>
            <a:ext cx="3995927" cy="4142231"/>
          </a:xfrm>
          <a:prstGeom prst="roundRect">
            <a:avLst>
              <a:gd name="adj" fmla="val 2517"/>
            </a:avLst>
          </a:prstGeom>
          <a:solidFill>
            <a:srgbClr val="FFF4E5"/>
          </a:solidFill>
          <a:ln w="12700">
            <a:solidFill>
              <a:srgbClr val="FFD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6" name="TextBox 15375"/>
          <p:cNvSpPr txBox="1"/>
          <p:nvPr/>
        </p:nvSpPr>
        <p:spPr>
          <a:xfrm>
            <a:off x="7927848" y="2066543"/>
            <a:ext cx="3538727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F57C00"/>
                </a:solidFill>
                <a:latin typeface="Aptos"/>
              </a:rPr>
              <a:t>ZERO-TOUCH KNOWLEDGE PIPELINE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7927848" y="5501119"/>
            <a:ext cx="3538727" cy="457200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4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The listener triggers extraction, AI understanding, local storage and retrieval—silently in the background.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8028431" y="2578608"/>
            <a:ext cx="3310128" cy="438912"/>
          </a:xfrm>
          <a:prstGeom prst="roundRect">
            <a:avLst/>
          </a:prstGeom>
          <a:solidFill>
            <a:srgbClr val="3D5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>
              <a:lnSpc>
                <a:spcPct val="104000"/>
              </a:lnSpc>
              <a:spcAft>
                <a:spcPts val="48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  Detect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8028431" y="3182112"/>
            <a:ext cx="3310128" cy="438912"/>
          </a:xfrm>
          <a:prstGeom prst="roundRect">
            <a:avLst/>
          </a:prstGeom>
          <a:solidFill>
            <a:srgbClr val="009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>
              <a:lnSpc>
                <a:spcPct val="104000"/>
              </a:lnSpc>
              <a:spcAft>
                <a:spcPts val="48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  Read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8028431" y="3785615"/>
            <a:ext cx="3310128" cy="438912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>
              <a:lnSpc>
                <a:spcPct val="104000"/>
              </a:lnSpc>
              <a:spcAft>
                <a:spcPts val="48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  Embed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8028431" y="4389120"/>
            <a:ext cx="3310128" cy="438912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>
              <a:lnSpc>
                <a:spcPct val="104000"/>
              </a:lnSpc>
              <a:spcAft>
                <a:spcPts val="48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  Retrieve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7410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116"/>
          </a:xfrm>
          <a:prstGeom prst="rect">
            <a:avLst/>
          </a:prstGeom>
        </p:spPr>
      </p:pic>
      <p:pic>
        <p:nvPicPr>
          <p:cNvPr id="17412" name="Picture 17411" descr="logo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"/>
            <a:ext cx="384048" cy="38404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060704" y="256032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2"/>
              </a:spcAft>
            </a:pPr>
            <a:r>
              <a:rPr sz="2300" b="1">
                <a:solidFill>
                  <a:srgbClr val="16324F"/>
                </a:solidFill>
                <a:latin typeface="Aptos"/>
              </a:rPr>
              <a:t>TECHNICAL APPROACH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60704" y="731520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Android ingestion  ·  OCR and parsing  ·  Gemini embeddings  ·  local retrieval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502920" y="1225296"/>
            <a:ext cx="11183111" cy="9525"/>
          </a:xfrm>
          <a:prstGeom prst="rect">
            <a:avLst/>
          </a:prstGeom>
          <a:solidFill>
            <a:srgbClr val="E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1371600"/>
            <a:ext cx="1757172" cy="932688"/>
          </a:xfrm>
          <a:prstGeom prst="roundRect">
            <a:avLst>
              <a:gd name="adj" fmla="val 8823"/>
            </a:avLst>
          </a:prstGeom>
          <a:solidFill>
            <a:srgbClr val="EFF3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49224" y="1517904"/>
            <a:ext cx="146456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8"/>
              </a:spcAft>
            </a:pPr>
            <a:r>
              <a:rPr sz="1200" b="1">
                <a:solidFill>
                  <a:srgbClr val="3D5AFE"/>
                </a:solidFill>
                <a:latin typeface="Aptos"/>
              </a:rPr>
              <a:t>1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9224" y="1709928"/>
            <a:ext cx="1464564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Listen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WhatsApp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notification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388107" y="1371600"/>
            <a:ext cx="1757172" cy="932688"/>
          </a:xfrm>
          <a:prstGeom prst="roundRect">
            <a:avLst>
              <a:gd name="adj" fmla="val 8823"/>
            </a:avLst>
          </a:prstGeom>
          <a:solidFill>
            <a:srgbClr val="EFF3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2534412" y="1517904"/>
            <a:ext cx="146456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8"/>
              </a:spcAft>
            </a:pPr>
            <a:r>
              <a:rPr sz="1200" b="1">
                <a:solidFill>
                  <a:srgbClr val="3D5AFE"/>
                </a:solidFill>
                <a:latin typeface="Aptos"/>
              </a:rPr>
              <a:t>2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534412" y="1709928"/>
            <a:ext cx="1464564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Identify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Photo or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Document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273296" y="1371600"/>
            <a:ext cx="1757172" cy="932688"/>
          </a:xfrm>
          <a:prstGeom prst="roundRect">
            <a:avLst>
              <a:gd name="adj" fmla="val 8823"/>
            </a:avLst>
          </a:prstGeom>
          <a:solidFill>
            <a:srgbClr val="EBF8F2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4419600" y="1517904"/>
            <a:ext cx="146456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8"/>
              </a:spcAft>
            </a:pPr>
            <a:r>
              <a:rPr sz="1200" b="1">
                <a:solidFill>
                  <a:srgbClr val="009B66"/>
                </a:solidFill>
                <a:latin typeface="Aptos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419600" y="1709928"/>
            <a:ext cx="1464564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Extract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ML Kit or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PdfRenderer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58483" y="1371600"/>
            <a:ext cx="1757172" cy="932688"/>
          </a:xfrm>
          <a:prstGeom prst="roundRect">
            <a:avLst>
              <a:gd name="adj" fmla="val 8823"/>
            </a:avLst>
          </a:prstGeom>
          <a:solidFill>
            <a:srgbClr val="EBF8F2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6304788" y="1517904"/>
            <a:ext cx="146456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8"/>
              </a:spcAft>
            </a:pPr>
            <a:r>
              <a:rPr sz="1200" b="1">
                <a:solidFill>
                  <a:srgbClr val="009B66"/>
                </a:solidFill>
                <a:latin typeface="Aptos"/>
              </a:rPr>
              <a:t>4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304788" y="1709928"/>
            <a:ext cx="1464564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Embed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Gemini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VectorEngine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043672" y="1371600"/>
            <a:ext cx="1757172" cy="932688"/>
          </a:xfrm>
          <a:prstGeom prst="roundRect">
            <a:avLst>
              <a:gd name="adj" fmla="val 8823"/>
            </a:avLst>
          </a:prstGeom>
          <a:solidFill>
            <a:srgbClr val="FFF4E5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8189976" y="1517904"/>
            <a:ext cx="146456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8"/>
              </a:spcAft>
            </a:pPr>
            <a:r>
              <a:rPr sz="1200" b="1">
                <a:solidFill>
                  <a:srgbClr val="F57C00"/>
                </a:solidFill>
                <a:latin typeface="Aptos"/>
              </a:rPr>
              <a:t>5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189976" y="1709928"/>
            <a:ext cx="1464564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Store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Local JSON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database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9928860" y="1371600"/>
            <a:ext cx="1757172" cy="932688"/>
          </a:xfrm>
          <a:prstGeom prst="roundRect">
            <a:avLst>
              <a:gd name="adj" fmla="val 8823"/>
            </a:avLst>
          </a:prstGeom>
          <a:solidFill>
            <a:srgbClr val="FFF4E5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10075164" y="1517904"/>
            <a:ext cx="146456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8"/>
              </a:spcAft>
            </a:pPr>
            <a:r>
              <a:rPr sz="1200" b="1">
                <a:solidFill>
                  <a:srgbClr val="F57C00"/>
                </a:solidFill>
                <a:latin typeface="Aptos"/>
              </a:rPr>
              <a:t>6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0075164" y="1709928"/>
            <a:ext cx="1464564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Ask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Retrieve and</a:t>
            </a:r>
          </a:p>
          <a:p>
            <a:pPr algn="l">
              <a:lnSpc>
                <a:spcPct val="104000"/>
              </a:lnSpc>
              <a:spcAft>
                <a:spcPts val="50"/>
              </a:spcAft>
            </a:pPr>
            <a:r>
              <a:rPr sz="1250" b="1">
                <a:solidFill>
                  <a:srgbClr val="1C232B"/>
                </a:solidFill>
                <a:latin typeface="Aptos"/>
              </a:rPr>
              <a:t>answer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02920" y="2487168"/>
            <a:ext cx="3429000" cy="3685031"/>
          </a:xfrm>
          <a:prstGeom prst="roundRect">
            <a:avLst>
              <a:gd name="adj" fmla="val 2933"/>
            </a:avLst>
          </a:prstGeom>
          <a:solidFill>
            <a:srgbClr val="EFF3FF"/>
          </a:solidFill>
          <a:ln w="12700">
            <a:solidFill>
              <a:srgbClr val="C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740664" y="2706624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3D5AFE"/>
                </a:solidFill>
                <a:latin typeface="Aptos"/>
              </a:rPr>
              <a:t>EXTRACT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40664" y="3017520"/>
            <a:ext cx="2971800" cy="29535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5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Images</a:t>
            </a:r>
          </a:p>
          <a:p>
            <a:pPr algn="l">
              <a:lnSpc>
                <a:spcPct val="108000"/>
              </a:lnSpc>
              <a:spcAft>
                <a:spcPts val="105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Google ML Kit OCR scans the image and returns readable text.</a:t>
            </a:r>
          </a:p>
          <a:p>
            <a:pPr algn="l">
              <a:lnSpc>
                <a:spcPct val="108000"/>
              </a:lnSpc>
              <a:spcAft>
                <a:spcPts val="105"/>
              </a:spcAft>
            </a:pPr>
          </a:p>
          <a:p>
            <a:pPr algn="l">
              <a:lnSpc>
                <a:spcPct val="108000"/>
              </a:lnSpc>
              <a:spcAft>
                <a:spcPts val="105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PDFs / documents</a:t>
            </a:r>
          </a:p>
          <a:p>
            <a:pPr algn="l">
              <a:lnSpc>
                <a:spcPct val="108000"/>
              </a:lnSpc>
              <a:spcAft>
                <a:spcPts val="105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Android PdfRenderer processes document pages for text extraction.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096512" y="2487168"/>
            <a:ext cx="3429000" cy="3685031"/>
          </a:xfrm>
          <a:prstGeom prst="roundRect">
            <a:avLst>
              <a:gd name="adj" fmla="val 2933"/>
            </a:avLst>
          </a:prstGeom>
          <a:solidFill>
            <a:srgbClr val="EBF8F2"/>
          </a:solidFill>
          <a:ln w="12700">
            <a:solidFill>
              <a:srgbClr val="C4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4334256" y="2706624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009B66"/>
                </a:solidFill>
                <a:latin typeface="Aptos"/>
              </a:rPr>
              <a:t>UNDERSTAND &amp; STORE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334256" y="3017520"/>
            <a:ext cx="2971800" cy="2880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5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VectorEngine.kt bundles extracted text + filename + sender.</a:t>
            </a:r>
          </a:p>
          <a:p>
            <a:pPr algn="l">
              <a:lnSpc>
                <a:spcPct val="108000"/>
              </a:lnSpc>
              <a:spcAft>
                <a:spcPts val="105"/>
              </a:spcAft>
            </a:pPr>
          </a:p>
          <a:p>
            <a:pPr algn="l">
              <a:lnSpc>
                <a:spcPct val="108000"/>
              </a:lnSpc>
              <a:spcAft>
                <a:spcPts val="105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Gemini converts that context into a semantic embedding.</a:t>
            </a:r>
          </a:p>
          <a:p>
            <a:pPr algn="l">
              <a:lnSpc>
                <a:spcPct val="108000"/>
              </a:lnSpc>
              <a:spcAft>
                <a:spcPts val="105"/>
              </a:spcAft>
            </a:pPr>
          </a:p>
          <a:p>
            <a:pPr algn="l">
              <a:lnSpc>
                <a:spcPct val="108000"/>
              </a:lnSpc>
              <a:spcAft>
                <a:spcPts val="105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FileStorage.kt saves metadata, text and vectors in a local JSON database.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7690104" y="2487168"/>
            <a:ext cx="3995927" cy="3685031"/>
          </a:xfrm>
          <a:prstGeom prst="roundRect">
            <a:avLst>
              <a:gd name="adj" fmla="val 2729"/>
            </a:avLst>
          </a:prstGeom>
          <a:solidFill>
            <a:srgbClr val="FFF4E5"/>
          </a:solidFill>
          <a:ln w="12700">
            <a:solidFill>
              <a:srgbClr val="FFD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TextBox 17447"/>
          <p:cNvSpPr txBox="1"/>
          <p:nvPr/>
        </p:nvSpPr>
        <p:spPr>
          <a:xfrm>
            <a:off x="7927848" y="2706624"/>
            <a:ext cx="3538727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F57C00"/>
                </a:solidFill>
                <a:latin typeface="Aptos"/>
              </a:rPr>
              <a:t>SEARCH &amp; ANSWER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7927848" y="3017520"/>
            <a:ext cx="3538727" cy="2880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5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The query becomes an embedding. Retina ranks every file using cosine similarity, then boosts explicit sender matches.</a:t>
            </a:r>
          </a:p>
          <a:p>
            <a:pPr algn="l">
              <a:lnSpc>
                <a:spcPct val="110000"/>
              </a:lnSpc>
              <a:spcAft>
                <a:spcPts val="135"/>
              </a:spcAft>
            </a:pPr>
          </a:p>
          <a:p>
            <a:pPr algn="l">
              <a:lnSpc>
                <a:spcPct val="110000"/>
              </a:lnSpc>
              <a:spcAft>
                <a:spcPts val="135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The top 3 files, question and chat history go to Gemini Chat for a grounded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7410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116"/>
          </a:xfrm>
          <a:prstGeom prst="rect">
            <a:avLst/>
          </a:prstGeom>
        </p:spPr>
      </p:pic>
      <p:pic>
        <p:nvPicPr>
          <p:cNvPr id="17412" name="Picture 17411" descr="logo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"/>
            <a:ext cx="384048" cy="38404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060704" y="256032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2"/>
              </a:spcAft>
            </a:pPr>
            <a:r>
              <a:rPr sz="2300" b="1">
                <a:solidFill>
                  <a:srgbClr val="16324F"/>
                </a:solidFill>
                <a:latin typeface="Aptos"/>
              </a:rPr>
              <a:t>PERSISTENCE &amp; RELIABILITY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60704" y="731520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Local file memory  ·  thread-safe writes  ·  durable chat history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502920" y="1225296"/>
            <a:ext cx="11183111" cy="9525"/>
          </a:xfrm>
          <a:prstGeom prst="rect">
            <a:avLst/>
          </a:prstGeom>
          <a:solidFill>
            <a:srgbClr val="E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1371600"/>
            <a:ext cx="3429000" cy="4133087"/>
          </a:xfrm>
          <a:prstGeom prst="roundRect">
            <a:avLst>
              <a:gd name="adj" fmla="val 2933"/>
            </a:avLst>
          </a:prstGeom>
          <a:solidFill>
            <a:srgbClr val="EFF3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740664" y="1591056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3D5AFE"/>
                </a:solidFill>
                <a:latin typeface="Aptos"/>
              </a:rPr>
              <a:t>FILE DATABASE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40664" y="1901952"/>
            <a:ext cx="2971800" cy="3401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4"/>
              </a:spcAft>
            </a:pPr>
            <a:r>
              <a:rPr sz="1500" b="0">
                <a:solidFill>
                  <a:srgbClr val="1C232B"/>
                </a:solidFill>
                <a:latin typeface="Aptos"/>
              </a:rPr>
              <a:t>FileStorage.kt keeps each file's metadata, extracted text and embedding in a local JSON database on the device.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096512" y="1371600"/>
            <a:ext cx="3429000" cy="4133087"/>
          </a:xfrm>
          <a:prstGeom prst="roundRect">
            <a:avLst>
              <a:gd name="adj" fmla="val 2933"/>
            </a:avLst>
          </a:prstGeom>
          <a:solidFill>
            <a:srgbClr val="EBF8F2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4334256" y="1591056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009B66"/>
                </a:solidFill>
                <a:latin typeface="Aptos"/>
              </a:rPr>
              <a:t>SAFE BACKGROUND WRITES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334256" y="1901952"/>
            <a:ext cx="2971800" cy="3401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4"/>
              </a:spcAft>
            </a:pPr>
            <a:r>
              <a:rPr sz="1500" b="0">
                <a:solidFill>
                  <a:srgbClr val="1C232B"/>
                </a:solidFill>
                <a:latin typeface="Aptos"/>
              </a:rPr>
              <a:t>WhatsApp files can arrive rapidly. @Synchronized locks serialize database access and protect the JSON file from overlapping writes and corruption.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7690104" y="1371600"/>
            <a:ext cx="3995927" cy="4133087"/>
          </a:xfrm>
          <a:prstGeom prst="roundRect">
            <a:avLst>
              <a:gd name="adj" fmla="val 2517"/>
            </a:avLst>
          </a:prstGeom>
          <a:solidFill>
            <a:srgbClr val="FFF4E5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7927848" y="1591056"/>
            <a:ext cx="3538727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F57C00"/>
                </a:solidFill>
                <a:latin typeface="Aptos"/>
              </a:rPr>
              <a:t>CONVERSATION MEMORY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927848" y="1901952"/>
            <a:ext cx="3538727" cy="3401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4"/>
              </a:spcAft>
            </a:pPr>
            <a:r>
              <a:rPr sz="1500" b="0">
                <a:solidFill>
                  <a:srgbClr val="1C232B"/>
                </a:solidFill>
                <a:latin typeface="Aptos"/>
              </a:rPr>
              <a:t>ChatStorage.kt saves conversations locally. When the app restarts, earlier interactions remain available as context for the next answer.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2920" y="5614416"/>
            <a:ext cx="11183111" cy="530352"/>
          </a:xfrm>
          <a:prstGeom prst="roundRect">
            <a:avLst>
              <a:gd name="adj" fmla="val 18965"/>
            </a:avLst>
          </a:prstGeom>
          <a:solidFill>
            <a:srgbClr val="16324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740664" y="5724144"/>
            <a:ext cx="1070762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6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Local metadata + extracted text + embeddings + chat history = a persistent second brain on the device.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7410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116"/>
          </a:xfrm>
          <a:prstGeom prst="rect">
            <a:avLst/>
          </a:prstGeom>
        </p:spPr>
      </p:pic>
      <p:pic>
        <p:nvPicPr>
          <p:cNvPr id="17412" name="Picture 17411" descr="logo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"/>
            <a:ext cx="384048" cy="38404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060704" y="256032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2"/>
              </a:spcAft>
            </a:pPr>
            <a:r>
              <a:rPr sz="2300" b="1">
                <a:solidFill>
                  <a:srgbClr val="16324F"/>
                </a:solidFill>
                <a:latin typeface="Aptos"/>
              </a:rPr>
              <a:t>INTELLIGENT SEARCH &amp; CHAT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60704" y="731520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Semantic retrieval  ·  sender-aware ranking  ·  fetch-aware interface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502920" y="1225296"/>
            <a:ext cx="11183111" cy="9525"/>
          </a:xfrm>
          <a:prstGeom prst="rect">
            <a:avLst/>
          </a:prstGeom>
          <a:solidFill>
            <a:srgbClr val="E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1371600"/>
            <a:ext cx="2672333" cy="1188720"/>
          </a:xfrm>
          <a:prstGeom prst="roundRect">
            <a:avLst>
              <a:gd name="adj" fmla="val 8461"/>
            </a:avLst>
          </a:prstGeom>
          <a:solidFill>
            <a:srgbClr val="EFF3FF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722376" y="1591056"/>
            <a:ext cx="2233421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6"/>
              </a:spcAft>
            </a:pPr>
            <a:r>
              <a:rPr sz="1900" b="1">
                <a:solidFill>
                  <a:srgbClr val="3D5AFE"/>
                </a:solidFill>
                <a:latin typeface="Aptos"/>
              </a:rPr>
              <a:t>MEANING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22376" y="2084832"/>
            <a:ext cx="2233421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query embedding + cosine similarity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339846" y="1371600"/>
            <a:ext cx="2672333" cy="1188720"/>
          </a:xfrm>
          <a:prstGeom prst="roundRect">
            <a:avLst>
              <a:gd name="adj" fmla="val 8461"/>
            </a:avLst>
          </a:prstGeom>
          <a:solidFill>
            <a:srgbClr val="EBF8F2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3559302" y="1591056"/>
            <a:ext cx="2233421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6"/>
              </a:spcAft>
            </a:pPr>
            <a:r>
              <a:rPr sz="1900" b="1">
                <a:solidFill>
                  <a:srgbClr val="009B66"/>
                </a:solidFill>
                <a:latin typeface="Aptos"/>
              </a:rPr>
              <a:t>SENDER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559302" y="2084832"/>
            <a:ext cx="2233421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keyword boost for by/from [Name]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76771" y="1371600"/>
            <a:ext cx="2672333" cy="1188720"/>
          </a:xfrm>
          <a:prstGeom prst="roundRect">
            <a:avLst>
              <a:gd name="adj" fmla="val 8461"/>
            </a:avLst>
          </a:prstGeom>
          <a:solidFill>
            <a:srgbClr val="FFF4E5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6396227" y="1591056"/>
            <a:ext cx="2233421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6"/>
              </a:spcAft>
            </a:pPr>
            <a:r>
              <a:rPr sz="1900" b="1">
                <a:solidFill>
                  <a:srgbClr val="F57C00"/>
                </a:solidFill>
                <a:latin typeface="Aptos"/>
              </a:rPr>
              <a:t>TOP 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96227" y="2084832"/>
            <a:ext cx="2233421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highest-ranked files become context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9013698" y="1371600"/>
            <a:ext cx="2672333" cy="1188720"/>
          </a:xfrm>
          <a:prstGeom prst="roundRect">
            <a:avLst>
              <a:gd name="adj" fmla="val 8461"/>
            </a:avLst>
          </a:prstGeom>
          <a:solidFill>
            <a:srgbClr val="F4F6F8"/>
          </a:solidFill>
          <a:ln w="12700">
            <a:solidFill>
              <a:srgbClr val="D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9233154" y="1591056"/>
            <a:ext cx="2233421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76"/>
              </a:spcAft>
            </a:pPr>
            <a:r>
              <a:rPr sz="1900" b="1">
                <a:solidFill>
                  <a:srgbClr val="16324F"/>
                </a:solidFill>
                <a:latin typeface="Aptos"/>
              </a:rPr>
              <a:t>FETCH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233154" y="2084832"/>
            <a:ext cx="2233421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shows matching files as chips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02920" y="2697480"/>
            <a:ext cx="5504688" cy="2880359"/>
          </a:xfrm>
          <a:prstGeom prst="roundRect">
            <a:avLst>
              <a:gd name="adj" fmla="val 3492"/>
            </a:avLst>
          </a:prstGeom>
          <a:solidFill>
            <a:srgbClr val="EFF3FF"/>
          </a:solidFill>
          <a:ln w="12700">
            <a:solidFill>
              <a:srgbClr val="C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740664" y="2916936"/>
            <a:ext cx="5047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3D5AFE"/>
                </a:solidFill>
                <a:latin typeface="Aptos"/>
              </a:rPr>
              <a:t>HYBRID RETRIEVAL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40664" y="3227832"/>
            <a:ext cx="5047488" cy="21488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8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1. Embed the user's query.</a:t>
            </a:r>
          </a:p>
          <a:p>
            <a:pPr algn="l">
              <a:lnSpc>
                <a:spcPct val="108000"/>
              </a:lnSpc>
              <a:spcAft>
                <a:spcPts val="108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2. Compare it with every stored file using cosine similarity.</a:t>
            </a:r>
          </a:p>
          <a:p>
            <a:pPr algn="l">
              <a:lnSpc>
                <a:spcPct val="108000"/>
              </a:lnSpc>
              <a:spcAft>
                <a:spcPts val="108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3. Detect explicit sender phrases such as “by Nidhi” or “from Nidhi”.</a:t>
            </a:r>
          </a:p>
          <a:p>
            <a:pPr algn="l">
              <a:lnSpc>
                <a:spcPct val="108000"/>
              </a:lnSpc>
              <a:spcAft>
                <a:spcPts val="108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4. Apply a strong sender boost and rank the results.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181344" y="2697480"/>
            <a:ext cx="5504688" cy="2880359"/>
          </a:xfrm>
          <a:prstGeom prst="roundRect">
            <a:avLst>
              <a:gd name="adj" fmla="val 3492"/>
            </a:avLst>
          </a:prstGeom>
          <a:solidFill>
            <a:srgbClr val="EBF8F2"/>
          </a:solidFill>
          <a:ln w="12700">
            <a:solidFill>
              <a:srgbClr val="C4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6419088" y="2916936"/>
            <a:ext cx="5047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009B66"/>
                </a:solidFill>
                <a:latin typeface="Aptos"/>
              </a:rPr>
              <a:t>CONTEXTUAL ANSWERING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419088" y="3227832"/>
            <a:ext cx="5047488" cy="21488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8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• With “fetch”: surface the top 3 files as interactive chips.</a:t>
            </a:r>
          </a:p>
          <a:p>
            <a:pPr algn="l">
              <a:lnSpc>
                <a:spcPct val="108000"/>
              </a:lnSpc>
              <a:spcAft>
                <a:spcPts val="108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• Without “fetch”: retrieve silently and keep the chat uncluttered.</a:t>
            </a:r>
          </a:p>
          <a:p>
            <a:pPr algn="l">
              <a:lnSpc>
                <a:spcPct val="108000"/>
              </a:lnSpc>
              <a:spcAft>
                <a:spcPts val="108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• Send the top 3 files + question + chat history to Gemini Chat.</a:t>
            </a:r>
          </a:p>
          <a:p>
            <a:pPr algn="l">
              <a:lnSpc>
                <a:spcPct val="108000"/>
              </a:lnSpc>
              <a:spcAft>
                <a:spcPts val="108"/>
              </a:spcAft>
            </a:pPr>
            <a:r>
              <a:rPr sz="1350" b="0">
                <a:solidFill>
                  <a:srgbClr val="1C232B"/>
                </a:solidFill>
                <a:latin typeface="Aptos"/>
              </a:rPr>
              <a:t>• Generate an answer grounded in the exact file contents.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02920" y="5687568"/>
            <a:ext cx="11183111" cy="484632"/>
          </a:xfrm>
          <a:prstGeom prst="roundRect">
            <a:avLst>
              <a:gd name="adj" fmla="val 20754"/>
            </a:avLst>
          </a:prstGeom>
          <a:solidFill>
            <a:srgbClr val="16324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740664" y="5788152"/>
            <a:ext cx="1070762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58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Example: “Fetch the image from Nidhi about isometric projection.”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7410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116"/>
          </a:xfrm>
          <a:prstGeom prst="rect">
            <a:avLst/>
          </a:prstGeom>
        </p:spPr>
      </p:pic>
      <p:pic>
        <p:nvPicPr>
          <p:cNvPr id="17412" name="Picture 17411" descr="logo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"/>
            <a:ext cx="384048" cy="38404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060704" y="256032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2"/>
              </a:spcAft>
            </a:pPr>
            <a:r>
              <a:rPr sz="2300" b="1">
                <a:solidFill>
                  <a:srgbClr val="16324F"/>
                </a:solidFill>
                <a:latin typeface="Aptos"/>
              </a:rPr>
              <a:t>END-TO-END ARCHITECTURE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60704" y="731520"/>
            <a:ext cx="8321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2"/>
              </a:spcAft>
            </a:pPr>
            <a:r>
              <a:rPr sz="1050" b="0">
                <a:solidFill>
                  <a:srgbClr val="576570"/>
                </a:solidFill>
                <a:latin typeface="Aptos"/>
              </a:rPr>
              <a:t>Named components and the data passed between them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502920" y="1225296"/>
            <a:ext cx="11183111" cy="9525"/>
          </a:xfrm>
          <a:prstGeom prst="rect">
            <a:avLst/>
          </a:prstGeom>
          <a:solidFill>
            <a:srgbClr val="E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1371600"/>
            <a:ext cx="5504688" cy="2852928"/>
          </a:xfrm>
          <a:prstGeom prst="roundRect">
            <a:avLst>
              <a:gd name="adj" fmla="val 3525"/>
            </a:avLst>
          </a:prstGeom>
          <a:solidFill>
            <a:srgbClr val="EFF3FF"/>
          </a:solidFill>
          <a:ln w="12700">
            <a:solidFill>
              <a:srgbClr val="CF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740664" y="1591056"/>
            <a:ext cx="5047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3D5AFE"/>
                </a:solidFill>
                <a:latin typeface="Aptos"/>
              </a:rPr>
              <a:t>ANDROID INGESTION &amp; EXTRACTION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40664" y="1901952"/>
            <a:ext cx="5047488" cy="21214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WhatsAppListenerService.kt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Notification interception + attachment and sender parsing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Google ML Kit OCR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Text extraction from images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Android PdfRenderer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Document-page processing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81344" y="1371600"/>
            <a:ext cx="5504688" cy="2852928"/>
          </a:xfrm>
          <a:prstGeom prst="roundRect">
            <a:avLst>
              <a:gd name="adj" fmla="val 3525"/>
            </a:avLst>
          </a:prstGeom>
          <a:solidFill>
            <a:srgbClr val="EBF8F2"/>
          </a:solidFill>
          <a:ln w="12700">
            <a:solidFill>
              <a:srgbClr val="C4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6419088" y="1591056"/>
            <a:ext cx="5047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009B66"/>
                </a:solidFill>
                <a:latin typeface="Aptos"/>
              </a:rPr>
              <a:t>AI, STORAGE &amp; MEMORY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19088" y="1901952"/>
            <a:ext cx="5047488" cy="21214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VectorEngine.kt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Gemini embeddings for files and queries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FileStorage.kt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Local JSON metadata, text and vectors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ChatStorage.kt</a:t>
            </a:r>
          </a:p>
          <a:p>
            <a:pPr algn="l">
              <a:lnSpc>
                <a:spcPct val="105000"/>
              </a:lnSpc>
              <a:spcAft>
                <a:spcPts val="66"/>
              </a:spcAft>
            </a:pPr>
            <a:r>
              <a:rPr sz="1320" b="0">
                <a:solidFill>
                  <a:srgbClr val="1C232B"/>
                </a:solidFill>
                <a:latin typeface="Aptos"/>
              </a:rPr>
              <a:t>Persistent local conversation history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2920" y="4389120"/>
            <a:ext cx="11183111" cy="1298448"/>
          </a:xfrm>
          <a:prstGeom prst="roundRect">
            <a:avLst>
              <a:gd name="adj" fmla="val 7746"/>
            </a:avLst>
          </a:prstGeom>
          <a:solidFill>
            <a:srgbClr val="16324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740664" y="4608576"/>
            <a:ext cx="10725911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4"/>
              </a:spcAft>
            </a:pPr>
            <a:r>
              <a:rPr sz="1100" b="1">
                <a:solidFill>
                  <a:srgbClr val="A4B9FF"/>
                </a:solidFill>
                <a:latin typeface="Aptos"/>
              </a:rPr>
              <a:t>HOW ONE FILE BECOMES AN ANSWER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40664" y="4937760"/>
            <a:ext cx="10725911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64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WhatsApp notification  →  attachment + sender  →  OCR/PDF text  →  Gemini embedding  →  local JSON  →  hybrid Top-3 retrieval  →  Gemini Chat answer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Retina App: Architecture &amp; Working Overview</dc:title>
  <dc:subject>SIH260150 technical architecture presentation</dc:subject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